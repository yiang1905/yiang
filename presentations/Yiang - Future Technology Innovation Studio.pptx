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Welcome. Today, we are Yiang, and we are here to talk about turning ideas into the future. We are a future technology innovation studio dedicated to building concepts that will define tomorrow's markets.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vision is simple yet ambitious: to build innovative technology concepts specifically designed for future markets. We don't just follow trends; we create them by imagining what's next and developing the concepts to make it real.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business model is a three-stage engine. First, we focus on creative innovation, generating the initial cutting-edge ideas. Then, we leverage a partner ecosystem to bring these ideas to life. Finally, we drive commercial development, ensuring our concepts achieve market success.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why Yiang? We are a small, agile team that maintains high creativity, unshackled by bureaucracy. Our global collaboration model allows us to tap into world-class talent and resources, making us uniquely positioned to innovate at the forefront of technology.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is our flagship portfolio project: NeuroSleep Technology. It's an AI-powered intelligent sleep system designed to revolutionize how we rest and recharge. This concept exemplifies our approach to merging cutting-edge AI with everyday life.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NeuroSleep concept is built on three pillars: AI sleep monitoring for deep insights, adaptive support for personalized comfort, and comprehensive health management to empower users with data-driven wellness recommendations.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market opportunity is immense. We are positioned at the intersection of two booming sectors: smart healthcare, where proactive wellness is becoming the norm, and AI lifestyle technology, which is seamlessly integrating intelligence into our daily routines.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success is built on collaboration. We actively seek partnerships with leading technology providers, established manufacturing partners, and visionary investors who share our belief in the future. Together, we form a powerful ecosystem to bring innovations to market.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roadmap is clear and focused. We start with a strong concept, develop a functional prototype, secure strategic partnerships, and then drive towards full commercialization. This structured approach ensures we efficiently transform ideas into market-ready products.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for your time. We are Yiang, and we are turning ideas into the future. We would welcome the opportunity to discuss how we can collaborate. Please feel free to reach out to us at the contact information provided.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2286000" y="-1905000"/>
            <a:ext cx="7620000" cy="3810000"/>
          </a:xfrm>
          <a:prstGeom prst="ellipse">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921000" y="4445000"/>
            <a:ext cx="6350000" cy="3175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286000"/>
            <a:ext cx="12192000" cy="177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8000">
                <a:solidFill>
                  <a:srgbClr val="FFFFFF"/>
                </a:solidFill>
                <a:latin typeface="Poppins"/>
                <a:ea typeface="Poppins"/>
                <a:cs typeface="Poppins"/>
                <a:sym typeface="Poppins"/>
              </a:rPr>
              <a:t>Yiang</a:t>
            </a:r>
            <a:endParaRPr lang="en-US" sz="1100"/>
          </a:p>
        </p:txBody>
      </p:sp>
      <p:sp>
        <p:nvSpPr>
          <p:cNvPr name="AutoShape 5" id="5"/>
          <p:cNvSpPr/>
          <p:nvPr/>
        </p:nvSpPr>
        <p:spPr>
          <a:xfrm rot="0" flipH="false" flipV="false">
            <a:off x="0" y="4191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800">
                <a:solidFill>
                  <a:srgbClr val="FFFFFF">
                    <a:alpha val="80000"/>
                  </a:srgbClr>
                </a:solidFill>
                <a:latin typeface="Poppins"/>
                <a:ea typeface="Poppins"/>
                <a:cs typeface="Poppins"/>
                <a:sym typeface="Poppins"/>
              </a:rPr>
              <a:t>Turning Ideas Into Future.</a:t>
            </a:r>
            <a:endParaRPr lang="en-US" sz="1100"/>
          </a:p>
        </p:txBody>
      </p:sp>
      <p:sp>
        <p:nvSpPr>
          <p:cNvPr name="AutoShape 6" id="6"/>
          <p:cNvSpPr/>
          <p:nvPr/>
        </p:nvSpPr>
        <p:spPr>
          <a:xfrm rot="0" flipH="false" flipV="false">
            <a:off x="0" y="5778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spc="600">
                <a:solidFill>
                  <a:srgbClr val="FFFFFF">
                    <a:alpha val="30196"/>
                  </a:srgbClr>
                </a:solidFill>
                <a:latin typeface="Poppins"/>
                <a:ea typeface="Poppins"/>
                <a:cs typeface="Poppins"/>
                <a:sym typeface="Poppins"/>
              </a:rPr>
              <a:t>FUTURE TECHNOLOGY INNOVATION STUDIO</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0" y="-1905000"/>
            <a:ext cx="7620000" cy="7620000"/>
          </a:xfrm>
          <a:prstGeom prst="ellipse">
            <a:avLst/>
          </a:prstGeom>
          <a:solidFill>
            <a:srgbClr val="FFFFFF">
              <a:alpha val="3000"/>
            </a:srgbClr>
          </a:solidFill>
          <a:ln cmpd="sng" cap="flat">
            <a:solidFill>
              <a:srgbClr val="E6CFCF">
                <a:alpha val="3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3810000"/>
            <a:ext cx="5080000" cy="5080000"/>
          </a:xfrm>
          <a:prstGeom prst="ellipse">
            <a:avLst/>
          </a:prstGeom>
          <a:solidFill>
            <a:srgbClr val="FFFFFF">
              <a:alpha val="2000"/>
            </a:srgbClr>
          </a:solidFill>
          <a:ln cmpd="sng" cap="flat">
            <a:solidFill>
              <a:srgbClr val="E6CFCF">
                <a:alpha val="2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Company Vision</a:t>
            </a:r>
            <a:endParaRPr lang="en-US" sz="1100"/>
          </a:p>
        </p:txBody>
      </p:sp>
      <p:sp>
        <p:nvSpPr>
          <p:cNvPr name="AutoShape 5" id="5"/>
          <p:cNvSpPr/>
          <p:nvPr/>
        </p:nvSpPr>
        <p:spPr>
          <a:xfrm rot="0" flipH="false" flipV="false">
            <a:off x="762000" y="2794000"/>
            <a:ext cx="1066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FFFFFF"/>
                </a:solidFill>
                <a:latin typeface="Poppins"/>
                <a:ea typeface="Poppins"/>
                <a:cs typeface="Poppins"/>
                <a:sym typeface="Poppins"/>
              </a:rPr>
              <a:t>Building innovative technology concepts for future markets.</a:t>
            </a:r>
            <a:endParaRPr lang="en-US" sz="1100"/>
          </a:p>
        </p:txBody>
      </p:sp>
      <p:sp>
        <p:nvSpPr>
          <p:cNvPr name="AutoShape 6" id="6"/>
          <p:cNvSpPr/>
          <p:nvPr/>
        </p:nvSpPr>
        <p:spPr>
          <a:xfrm rot="0" flipH="false" flipV="false">
            <a:off x="762000" y="5461000"/>
            <a:ext cx="1524000" cy="25400"/>
          </a:xfrm>
          <a:prstGeom prst="roundRect">
            <a:avLst>
              <a:gd name="adj" fmla="val 0"/>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413000" y="5461000"/>
            <a:ext cx="762000" cy="254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302000" y="5461000"/>
            <a:ext cx="254000" cy="254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57785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40000"/>
                  </a:srgbClr>
                </a:solidFill>
                <a:latin typeface="Poppins"/>
                <a:ea typeface="Poppins"/>
                <a:cs typeface="Poppins"/>
                <a:sym typeface="Poppins"/>
              </a:rPr>
              <a:t>We don’t just predict trends — we define them by reimagining what’s possible and engineering the future into reality.</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0" y="-1270000"/>
            <a:ext cx="5080000" cy="508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Business Model</a:t>
            </a:r>
            <a:endParaRPr lang="en-US" sz="1100"/>
          </a:p>
        </p:txBody>
      </p:sp>
      <p:sp>
        <p:nvSpPr>
          <p:cNvPr name="AutoShape 5" id="5"/>
          <p:cNvSpPr/>
          <p:nvPr/>
        </p:nvSpPr>
        <p:spPr>
          <a:xfrm rot="0" flipH="false" flipV="false">
            <a:off x="762000" y="24130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alpha val="30196"/>
                  </a:srgbClr>
                </a:solidFill>
                <a:latin typeface="Poppins"/>
                <a:ea typeface="Poppins"/>
                <a:cs typeface="Poppins"/>
                <a:sym typeface="Poppins"/>
              </a:rPr>
              <a:t>01</a:t>
            </a:r>
            <a:endParaRPr lang="en-US" sz="1100"/>
          </a:p>
        </p:txBody>
      </p:sp>
      <p:sp>
        <p:nvSpPr>
          <p:cNvPr name="AutoShape 6" id="6"/>
          <p:cNvSpPr/>
          <p:nvPr/>
        </p:nvSpPr>
        <p:spPr>
          <a:xfrm rot="0" flipH="false" flipV="false">
            <a:off x="762000" y="3175000"/>
            <a:ext cx="330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Creative Innovation</a:t>
            </a:r>
            <a:endParaRPr lang="en-US" sz="1100"/>
          </a:p>
        </p:txBody>
      </p:sp>
      <p:cxnSp>
        <p:nvCxnSpPr>
          <p:cNvPr name="Connector 7" id="7"/>
          <p:cNvCxnSpPr/>
          <p:nvPr/>
        </p:nvCxnSpPr>
        <p:spPr>
          <a:xfrm rot="-15626" flipH="false" flipV="false">
            <a:off x="762014" y="4184650"/>
            <a:ext cx="2794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762000" y="4445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Generating cutting-edge ideas and concepts that challenge the status quo, sparking new possibilities and setting industry benchmarks.</a:t>
            </a:r>
            <a:endParaRPr lang="en-US" sz="1100"/>
          </a:p>
        </p:txBody>
      </p:sp>
      <p:sp>
        <p:nvSpPr>
          <p:cNvPr name="AutoShape 9" id="9"/>
          <p:cNvSpPr/>
          <p:nvPr/>
        </p:nvSpPr>
        <p:spPr>
          <a:xfrm rot="0" flipH="false" flipV="false">
            <a:off x="4445000" y="24130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alpha val="30196"/>
                  </a:srgbClr>
                </a:solidFill>
                <a:latin typeface="Poppins"/>
                <a:ea typeface="Poppins"/>
                <a:cs typeface="Poppins"/>
                <a:sym typeface="Poppins"/>
              </a:rPr>
              <a:t>02</a:t>
            </a:r>
            <a:endParaRPr lang="en-US" sz="1100"/>
          </a:p>
        </p:txBody>
      </p:sp>
      <p:sp>
        <p:nvSpPr>
          <p:cNvPr name="AutoShape 10" id="10"/>
          <p:cNvSpPr/>
          <p:nvPr/>
        </p:nvSpPr>
        <p:spPr>
          <a:xfrm rot="0" flipH="false" flipV="false">
            <a:off x="4445000" y="3175000"/>
            <a:ext cx="330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Partner Ecosystem</a:t>
            </a:r>
            <a:endParaRPr lang="en-US" sz="1100"/>
          </a:p>
        </p:txBody>
      </p:sp>
      <p:cxnSp>
        <p:nvCxnSpPr>
          <p:cNvPr name="Connector 11" id="11"/>
          <p:cNvCxnSpPr/>
          <p:nvPr/>
        </p:nvCxnSpPr>
        <p:spPr>
          <a:xfrm rot="-15626" flipH="false" flipV="false">
            <a:off x="4445014" y="4184650"/>
            <a:ext cx="2794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2" id="12"/>
          <p:cNvSpPr/>
          <p:nvPr/>
        </p:nvSpPr>
        <p:spPr>
          <a:xfrm rot="0" flipH="false" flipV="false">
            <a:off x="4445000" y="4445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Collaborating with global leaders in technology, manufacturing, and logistics to build a robust, scalable network for execution.</a:t>
            </a:r>
            <a:endParaRPr lang="en-US" sz="1100"/>
          </a:p>
        </p:txBody>
      </p:sp>
      <p:sp>
        <p:nvSpPr>
          <p:cNvPr name="AutoShape 13" id="13"/>
          <p:cNvSpPr/>
          <p:nvPr/>
        </p:nvSpPr>
        <p:spPr>
          <a:xfrm rot="0" flipH="false" flipV="false">
            <a:off x="8128000" y="24130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alpha val="30196"/>
                  </a:srgbClr>
                </a:solidFill>
                <a:latin typeface="Poppins"/>
                <a:ea typeface="Poppins"/>
                <a:cs typeface="Poppins"/>
                <a:sym typeface="Poppins"/>
              </a:rPr>
              <a:t>03</a:t>
            </a:r>
            <a:endParaRPr lang="en-US" sz="1100"/>
          </a:p>
        </p:txBody>
      </p:sp>
      <p:sp>
        <p:nvSpPr>
          <p:cNvPr name="AutoShape 14" id="14"/>
          <p:cNvSpPr/>
          <p:nvPr/>
        </p:nvSpPr>
        <p:spPr>
          <a:xfrm rot="0" flipH="false" flipV="false">
            <a:off x="8128000" y="3175000"/>
            <a:ext cx="330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Commercial Development</a:t>
            </a:r>
            <a:endParaRPr lang="en-US" sz="1100"/>
          </a:p>
        </p:txBody>
      </p:sp>
      <p:cxnSp>
        <p:nvCxnSpPr>
          <p:cNvPr name="Connector 15" id="15"/>
          <p:cNvCxnSpPr/>
          <p:nvPr/>
        </p:nvCxnSpPr>
        <p:spPr>
          <a:xfrm rot="-15626" flipH="false" flipV="false">
            <a:off x="8128014" y="4184650"/>
            <a:ext cx="2794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6" id="16"/>
          <p:cNvSpPr/>
          <p:nvPr/>
        </p:nvSpPr>
        <p:spPr>
          <a:xfrm rot="0" flipH="false" flipV="false">
            <a:off x="8128000" y="4445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Guiding concepts from prototype to market success through strategic planning, go-to-market execution, and sustainable growth.</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5080000" cy="508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8890000" y="3810000"/>
            <a:ext cx="6350000" cy="635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Why Yiang</a:t>
            </a:r>
            <a:endParaRPr lang="en-US" sz="1100"/>
          </a:p>
        </p:txBody>
      </p:sp>
      <p:sp>
        <p:nvSpPr>
          <p:cNvPr name="AutoShape 5" id="5"/>
          <p:cNvSpPr/>
          <p:nvPr/>
        </p:nvSpPr>
        <p:spPr>
          <a:xfrm rot="0" flipH="false" flipV="false">
            <a:off x="762000" y="2286000"/>
            <a:ext cx="3302000" cy="3048000"/>
          </a:xfrm>
          <a:prstGeom prst="roundRect">
            <a:avLst>
              <a:gd name="adj" fmla="val 0"/>
            </a:avLst>
          </a:prstGeom>
          <a:solidFill>
            <a:srgbClr val="FFFFFF">
              <a:alpha val="6000"/>
            </a:srgbClr>
          </a:solidFill>
          <a:ln w="12700" cmpd="sng" cap="flat">
            <a:solidFill>
              <a:srgbClr val="FFFFFF">
                <a:alpha val="12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667000"/>
            <a:ext cx="508000" cy="508000"/>
          </a:xfrm>
          <a:prstGeom prst="rect">
            <a:avLst/>
          </a:prstGeom>
        </p:spPr>
      </p:pic>
      <p:sp>
        <p:nvSpPr>
          <p:cNvPr name="AutoShape 7" id="7"/>
          <p:cNvSpPr/>
          <p:nvPr/>
        </p:nvSpPr>
        <p:spPr>
          <a:xfrm rot="0" flipH="false" flipV="false">
            <a:off x="1066800" y="3429000"/>
            <a:ext cx="26924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Small Team</a:t>
            </a:r>
            <a:endParaRPr lang="en-US" sz="1100"/>
          </a:p>
        </p:txBody>
      </p:sp>
      <p:cxnSp>
        <p:nvCxnSpPr>
          <p:cNvPr name="Connector 8" id="8"/>
          <p:cNvCxnSpPr/>
          <p:nvPr/>
        </p:nvCxnSpPr>
        <p:spPr>
          <a:xfrm rot="-16215" flipH="false" flipV="false">
            <a:off x="1066815" y="4121150"/>
            <a:ext cx="26924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9" id="9"/>
          <p:cNvSpPr/>
          <p:nvPr/>
        </p:nvSpPr>
        <p:spPr>
          <a:xfrm rot="0" flipH="false" flipV="false">
            <a:off x="1066800" y="4381500"/>
            <a:ext cx="26924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60000"/>
                  </a:srgbClr>
                </a:solidFill>
                <a:latin typeface="Poppins"/>
                <a:ea typeface="Poppins"/>
                <a:cs typeface="Poppins"/>
                <a:sym typeface="Poppins"/>
              </a:rPr>
              <a:t>Agile, focused, and highly efficient. We move fast, adapt quickly, and cut through bureaucracy to deliver impact.</a:t>
            </a:r>
            <a:endParaRPr lang="en-US" sz="1100"/>
          </a:p>
        </p:txBody>
      </p:sp>
      <p:sp>
        <p:nvSpPr>
          <p:cNvPr name="AutoShape 10" id="10"/>
          <p:cNvSpPr/>
          <p:nvPr/>
        </p:nvSpPr>
        <p:spPr>
          <a:xfrm rot="0" flipH="false" flipV="false">
            <a:off x="4445000" y="2286000"/>
            <a:ext cx="3302000" cy="3048000"/>
          </a:xfrm>
          <a:prstGeom prst="roundRect">
            <a:avLst>
              <a:gd name="adj" fmla="val 0"/>
            </a:avLst>
          </a:prstGeom>
          <a:solidFill>
            <a:srgbClr val="FFFFFF">
              <a:alpha val="6000"/>
            </a:srgbClr>
          </a:solidFill>
          <a:ln w="12700" cmpd="sng" cap="flat">
            <a:solidFill>
              <a:srgbClr val="FFFFFF">
                <a:alpha val="12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667000"/>
            <a:ext cx="508000" cy="508000"/>
          </a:xfrm>
          <a:prstGeom prst="rect">
            <a:avLst/>
          </a:prstGeom>
        </p:spPr>
      </p:pic>
      <p:sp>
        <p:nvSpPr>
          <p:cNvPr name="AutoShape 12" id="12"/>
          <p:cNvSpPr/>
          <p:nvPr/>
        </p:nvSpPr>
        <p:spPr>
          <a:xfrm rot="0" flipH="false" flipV="false">
            <a:off x="4749800" y="3429000"/>
            <a:ext cx="26924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High Creativity</a:t>
            </a:r>
            <a:endParaRPr lang="en-US" sz="1100"/>
          </a:p>
        </p:txBody>
      </p:sp>
      <p:cxnSp>
        <p:nvCxnSpPr>
          <p:cNvPr name="Connector 13" id="13"/>
          <p:cNvCxnSpPr/>
          <p:nvPr/>
        </p:nvCxnSpPr>
        <p:spPr>
          <a:xfrm rot="-16215" flipH="false" flipV="false">
            <a:off x="4749815" y="4121150"/>
            <a:ext cx="26924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4" id="14"/>
          <p:cNvSpPr/>
          <p:nvPr/>
        </p:nvSpPr>
        <p:spPr>
          <a:xfrm rot="0" flipH="false" flipV="false">
            <a:off x="4749800" y="4381500"/>
            <a:ext cx="26924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60000"/>
                  </a:srgbClr>
                </a:solidFill>
                <a:latin typeface="Poppins"/>
                <a:ea typeface="Poppins"/>
                <a:cs typeface="Poppins"/>
                <a:sym typeface="Poppins"/>
              </a:rPr>
              <a:t>Unconstrained thinking pushing boundaries. We challenge norms to explore bold, innovative solutions that redefine what’s possible.</a:t>
            </a:r>
            <a:endParaRPr lang="en-US" sz="1100"/>
          </a:p>
        </p:txBody>
      </p:sp>
      <p:sp>
        <p:nvSpPr>
          <p:cNvPr name="AutoShape 15" id="15"/>
          <p:cNvSpPr/>
          <p:nvPr/>
        </p:nvSpPr>
        <p:spPr>
          <a:xfrm rot="0" flipH="false" flipV="false">
            <a:off x="8128000" y="2286000"/>
            <a:ext cx="3302000" cy="3048000"/>
          </a:xfrm>
          <a:prstGeom prst="roundRect">
            <a:avLst>
              <a:gd name="adj" fmla="val 0"/>
            </a:avLst>
          </a:prstGeom>
          <a:solidFill>
            <a:srgbClr val="FFFFFF">
              <a:alpha val="6000"/>
            </a:srgbClr>
          </a:solidFill>
          <a:ln w="12700" cmpd="sng" cap="flat">
            <a:solidFill>
              <a:srgbClr val="FFFFFF">
                <a:alpha val="12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667000"/>
            <a:ext cx="508000" cy="508000"/>
          </a:xfrm>
          <a:prstGeom prst="rect">
            <a:avLst/>
          </a:prstGeom>
        </p:spPr>
      </p:pic>
      <p:sp>
        <p:nvSpPr>
          <p:cNvPr name="AutoShape 17" id="17"/>
          <p:cNvSpPr/>
          <p:nvPr/>
        </p:nvSpPr>
        <p:spPr>
          <a:xfrm rot="0" flipH="false" flipV="false">
            <a:off x="8432800" y="3429000"/>
            <a:ext cx="26924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Global Collaboration</a:t>
            </a:r>
            <a:endParaRPr lang="en-US" sz="1100"/>
          </a:p>
        </p:txBody>
      </p:sp>
      <p:cxnSp>
        <p:nvCxnSpPr>
          <p:cNvPr name="Connector 18" id="18"/>
          <p:cNvCxnSpPr/>
          <p:nvPr/>
        </p:nvCxnSpPr>
        <p:spPr>
          <a:xfrm rot="-16215" flipH="false" flipV="false">
            <a:off x="8432815" y="4121150"/>
            <a:ext cx="26924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9" id="19"/>
          <p:cNvSpPr/>
          <p:nvPr/>
        </p:nvSpPr>
        <p:spPr>
          <a:xfrm rot="0" flipH="false" flipV="false">
            <a:off x="8432800" y="4381500"/>
            <a:ext cx="26924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60000"/>
                  </a:srgbClr>
                </a:solidFill>
                <a:latin typeface="Poppins"/>
                <a:ea typeface="Poppins"/>
                <a:cs typeface="Poppins"/>
                <a:sym typeface="Poppins"/>
              </a:rPr>
              <a:t>Access to world-class talent and resources. Our borderless network unites diverse expertise to drive truly global innovation.</a:t>
            </a:r>
            <a:endParaRPr lang="en-US" sz="1100"/>
          </a:p>
        </p:txBody>
      </p:sp>
      <p:sp>
        <p:nvSpPr>
          <p:cNvPr name="AutoShape 20" id="20"/>
          <p:cNvSpPr/>
          <p:nvPr/>
        </p:nvSpPr>
        <p:spPr>
          <a:xfrm rot="0" flipH="false" flipV="false">
            <a:off x="762000" y="5842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40000"/>
                  </a:srgbClr>
                </a:solidFill>
                <a:latin typeface="Poppins"/>
                <a:ea typeface="Poppins"/>
                <a:cs typeface="Poppins"/>
                <a:sym typeface="Poppins"/>
              </a:rPr>
              <a:t>Empowering innovation through agility, creativity, and a borderless mindset.</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2286000" y="-1270000"/>
            <a:ext cx="7620000" cy="7620000"/>
          </a:xfrm>
          <a:prstGeom prst="ellipse">
            <a:avLst/>
          </a:prstGeom>
          <a:gradFill rotWithShape="true">
            <a:gsLst>
              <a:gs pos="0">
                <a:srgbClr val="FFFFFF">
                  <a:alpha val="8000"/>
                </a:srgbClr>
              </a:gs>
              <a:gs pos="70000">
                <a:srgbClr val="000000">
                  <a:alpha val="0"/>
                </a:srgbClr>
              </a:gs>
            </a:gsLst>
            <a:path path="circle">
              <a:fillToRect l="50000" r="50000" t="50000" b="50000"/>
            </a:path>
            <a:tileRect t="0" b="0" l="0" r="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Portfolio</a:t>
            </a:r>
            <a:endParaRPr lang="en-US" sz="1100"/>
          </a:p>
        </p:txBody>
      </p:sp>
      <p:sp>
        <p:nvSpPr>
          <p:cNvPr name="AutoShape 4" id="4"/>
          <p:cNvSpPr/>
          <p:nvPr/>
        </p:nvSpPr>
        <p:spPr>
          <a:xfrm rot="0" flipH="false" flipV="false">
            <a:off x="762000" y="2413000"/>
            <a:ext cx="10668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FFFFFF"/>
                </a:solidFill>
                <a:latin typeface="Poppins"/>
                <a:ea typeface="Poppins"/>
                <a:cs typeface="Poppins"/>
                <a:sym typeface="Poppins"/>
              </a:rPr>
              <a:t>NeuroSleep Technology</a:t>
            </a:r>
            <a:endParaRPr lang="en-US" sz="1100"/>
          </a:p>
        </p:txBody>
      </p:sp>
      <p:sp>
        <p:nvSpPr>
          <p:cNvPr name="AutoShape 5" id="5"/>
          <p:cNvSpPr/>
          <p:nvPr/>
        </p:nvSpPr>
        <p:spPr>
          <a:xfrm rot="0" flipH="false" flipV="false">
            <a:off x="762000" y="3683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60000"/>
                  </a:srgbClr>
                </a:solidFill>
                <a:latin typeface="Poppins"/>
                <a:ea typeface="Poppins"/>
                <a:cs typeface="Poppins"/>
                <a:sym typeface="Poppins"/>
              </a:rPr>
              <a:t>AI Intelligent Sleep System</a:t>
            </a:r>
            <a:endParaRPr lang="en-US" sz="1100"/>
          </a:p>
        </p:txBody>
      </p:sp>
      <p:sp>
        <p:nvSpPr>
          <p:cNvPr name="AutoShape 6" id="6"/>
          <p:cNvSpPr/>
          <p:nvPr/>
        </p:nvSpPr>
        <p:spPr>
          <a:xfrm rot="0" flipH="false" flipV="false">
            <a:off x="2413000" y="4953000"/>
            <a:ext cx="1016000" cy="1016000"/>
          </a:xfrm>
          <a:prstGeom prst="ellipse">
            <a:avLst/>
          </a:prstGeom>
          <a:solidFill>
            <a:srgbClr val="FFFFFF">
              <a:alpha val="6000"/>
            </a:srgbClr>
          </a:solidFill>
          <a:ln w="12700" cmpd="sng" cap="flat">
            <a:solidFill>
              <a:srgbClr val="FFFFFF">
                <a:alpha val="18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461000" y="4826000"/>
            <a:ext cx="1270000" cy="1270000"/>
          </a:xfrm>
          <a:prstGeom prst="ellipse">
            <a:avLst/>
          </a:prstGeom>
          <a:solidFill>
            <a:srgbClr val="FFFFFF">
              <a:alpha val="9000"/>
            </a:srgbClr>
          </a:solidFill>
          <a:ln w="12700" cmpd="sng" cap="flat">
            <a:solidFill>
              <a:srgbClr val="FFFFFF">
                <a:alpha val="24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763000" y="4953000"/>
            <a:ext cx="1016000" cy="1016000"/>
          </a:xfrm>
          <a:prstGeom prst="ellipse">
            <a:avLst/>
          </a:prstGeom>
          <a:solidFill>
            <a:srgbClr val="FFFFFF">
              <a:alpha val="6000"/>
            </a:srgbClr>
          </a:solidFill>
          <a:ln w="12700" cmpd="sng" cap="flat">
            <a:solidFill>
              <a:srgbClr val="FFFFFF">
                <a:alpha val="18000"/>
              </a:srgbClr>
            </a:solidFill>
            <a:prstDash val="solid"/>
            <a:round/>
          </a:ln>
        </p:spPr>
        <p:txBody>
          <a:bodyPr anchor="ctr" rtlCol="false" vert="horz" wrap="square" lIns="63500" rIns="63500" tIns="63500" bIns="63500"/>
          <a:lstStyle/>
          <a:p>
            <a:pPr algn="ctr">
              <a:defRPr/>
            </a:pPr>
            <a:endParaRPr/>
          </a:p>
        </p:txBody>
      </p:sp>
      <p:cxnSp>
        <p:nvCxnSpPr>
          <p:cNvPr name="Connector 9" id="9"/>
          <p:cNvCxnSpPr/>
          <p:nvPr/>
        </p:nvCxnSpPr>
        <p:spPr>
          <a:xfrm rot="-21485" flipH="false" flipV="false">
            <a:off x="3429020" y="5454650"/>
            <a:ext cx="2032000" cy="12700"/>
          </a:xfrm>
          <a:prstGeom prst="straightConnector1">
            <a:avLst/>
          </a:prstGeom>
          <a:solidFill>
            <a:srgbClr val="DEE0E3">
              <a:alpha val="100000"/>
            </a:srgbClr>
          </a:solidFill>
          <a:ln w="25400" cmpd="sng" cap="flat">
            <a:solidFill>
              <a:srgbClr val="FFFFFF">
                <a:alpha val="12000"/>
              </a:srgbClr>
            </a:solidFill>
            <a:prstDash val="solid"/>
            <a:round/>
            <a:headEnd type="none" w="lg" len="lg"/>
            <a:tailEnd type="none" w="lg" len="lg"/>
          </a:ln>
        </p:spPr>
      </p:cxnSp>
      <p:cxnSp>
        <p:nvCxnSpPr>
          <p:cNvPr name="Connector 10" id="10"/>
          <p:cNvCxnSpPr/>
          <p:nvPr/>
        </p:nvCxnSpPr>
        <p:spPr>
          <a:xfrm rot="-21485" flipH="false" flipV="false">
            <a:off x="6731020" y="5454650"/>
            <a:ext cx="2032000" cy="12700"/>
          </a:xfrm>
          <a:prstGeom prst="straightConnector1">
            <a:avLst/>
          </a:prstGeom>
          <a:solidFill>
            <a:srgbClr val="DEE0E3">
              <a:alpha val="100000"/>
            </a:srgbClr>
          </a:solidFill>
          <a:ln w="25400" cmpd="sng" cap="flat">
            <a:solidFill>
              <a:srgbClr val="FFFFFF">
                <a:alpha val="12000"/>
              </a:srgbClr>
            </a:solidFill>
            <a:prstDash val="solid"/>
            <a:round/>
            <a:headEnd type="none" w="lg" len="lg"/>
            <a:tailEnd type="none" w="lg" len="lg"/>
          </a:ln>
        </p:spPr>
      </p:cxnSp>
      <p:sp>
        <p:nvSpPr>
          <p:cNvPr name="AutoShape 11" id="11"/>
          <p:cNvSpPr/>
          <p:nvPr/>
        </p:nvSpPr>
        <p:spPr>
          <a:xfrm rot="0" flipH="false" flipV="false">
            <a:off x="4318000" y="5905500"/>
            <a:ext cx="203200" cy="203200"/>
          </a:xfrm>
          <a:prstGeom prst="ellipse">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0" y="5905500"/>
            <a:ext cx="152400" cy="152400"/>
          </a:xfrm>
          <a:prstGeom prst="ellipse">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Product Concept: NeuroSleep</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413000"/>
            <a:ext cx="609600" cy="609600"/>
          </a:xfrm>
          <a:prstGeom prst="rect">
            <a:avLst/>
          </a:prstGeom>
        </p:spPr>
      </p:pic>
      <p:sp>
        <p:nvSpPr>
          <p:cNvPr name="AutoShape 6" id="6"/>
          <p:cNvSpPr/>
          <p:nvPr/>
        </p:nvSpPr>
        <p:spPr>
          <a:xfrm rot="0" flipH="false" flipV="false">
            <a:off x="762000" y="3429000"/>
            <a:ext cx="330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AI Sleep Monitoring</a:t>
            </a:r>
            <a:endParaRPr lang="en-US" sz="1100"/>
          </a:p>
        </p:txBody>
      </p:sp>
      <p:sp>
        <p:nvSpPr>
          <p:cNvPr name="AutoShape 7" id="7"/>
          <p:cNvSpPr/>
          <p:nvPr/>
        </p:nvSpPr>
        <p:spPr>
          <a:xfrm rot="0" flipH="false" flipV="false">
            <a:off x="762000" y="4254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Continuous analysis of sleep cycles, heart rate variability, and respiratory patterns for precise sleep stage classification.</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45000" y="2413000"/>
            <a:ext cx="609600" cy="609600"/>
          </a:xfrm>
          <a:prstGeom prst="rect">
            <a:avLst/>
          </a:prstGeom>
        </p:spPr>
      </p:pic>
      <p:sp>
        <p:nvSpPr>
          <p:cNvPr name="AutoShape 9" id="9"/>
          <p:cNvSpPr/>
          <p:nvPr/>
        </p:nvSpPr>
        <p:spPr>
          <a:xfrm rot="0" flipH="false" flipV="false">
            <a:off x="4445000" y="3429000"/>
            <a:ext cx="330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Adaptive Support</a:t>
            </a:r>
            <a:endParaRPr lang="en-US" sz="1100"/>
          </a:p>
        </p:txBody>
      </p:sp>
      <p:sp>
        <p:nvSpPr>
          <p:cNvPr name="AutoShape 10" id="10"/>
          <p:cNvSpPr/>
          <p:nvPr/>
        </p:nvSpPr>
        <p:spPr>
          <a:xfrm rot="0" flipH="false" flipV="false">
            <a:off x="4445000" y="4254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Dynamic real-time adjustment of mattress firmness and ergonomic contour to maintain optimal spinal alignment.</a:t>
            </a:r>
            <a:endParaRPr lang="en-US" sz="1100"/>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28000" y="2413000"/>
            <a:ext cx="609600" cy="609600"/>
          </a:xfrm>
          <a:prstGeom prst="rect">
            <a:avLst/>
          </a:prstGeom>
        </p:spPr>
      </p:pic>
      <p:sp>
        <p:nvSpPr>
          <p:cNvPr name="AutoShape 12" id="12"/>
          <p:cNvSpPr/>
          <p:nvPr/>
        </p:nvSpPr>
        <p:spPr>
          <a:xfrm rot="0" flipH="false" flipV="false">
            <a:off x="8128000" y="3429000"/>
            <a:ext cx="330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Poppins"/>
                <a:ea typeface="Poppins"/>
                <a:cs typeface="Poppins"/>
                <a:sym typeface="Poppins"/>
              </a:rPr>
              <a:t>Health Management</a:t>
            </a:r>
            <a:endParaRPr lang="en-US" sz="1100"/>
          </a:p>
        </p:txBody>
      </p:sp>
      <p:sp>
        <p:nvSpPr>
          <p:cNvPr name="AutoShape 13" id="13"/>
          <p:cNvSpPr/>
          <p:nvPr/>
        </p:nvSpPr>
        <p:spPr>
          <a:xfrm rot="0" flipH="false" flipV="false">
            <a:off x="8128000" y="4254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60000"/>
                  </a:srgbClr>
                </a:solidFill>
                <a:latin typeface="Poppins"/>
                <a:ea typeface="Poppins"/>
                <a:cs typeface="Poppins"/>
                <a:sym typeface="Poppins"/>
              </a:rPr>
              <a:t>Data-driven wellness insights and personalized recommendations to improve sleep hygiene and daily vitality.</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38BDF8">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3810000"/>
            <a:ext cx="4445000" cy="4445000"/>
          </a:xfrm>
          <a:prstGeom prst="ellipse">
            <a:avLst/>
          </a:prstGeom>
          <a:solidFill>
            <a:srgbClr val="A78BF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Market Opportunity</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413000"/>
            <a:ext cx="609600" cy="609600"/>
          </a:xfrm>
          <a:prstGeom prst="rect">
            <a:avLst/>
          </a:prstGeom>
        </p:spPr>
      </p:pic>
      <p:sp>
        <p:nvSpPr>
          <p:cNvPr name="AutoShape 6" id="6"/>
          <p:cNvSpPr/>
          <p:nvPr/>
        </p:nvSpPr>
        <p:spPr>
          <a:xfrm rot="0" flipH="false" flipV="false">
            <a:off x="1524000" y="24638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Poppins"/>
                <a:ea typeface="Poppins"/>
                <a:cs typeface="Poppins"/>
                <a:sym typeface="Poppins"/>
              </a:rPr>
              <a:t>Smart Healthcare</a:t>
            </a:r>
            <a:endParaRPr lang="en-US" sz="1100"/>
          </a:p>
        </p:txBody>
      </p:sp>
      <p:cxnSp>
        <p:nvCxnSpPr>
          <p:cNvPr name="Connector 7" id="7"/>
          <p:cNvCxnSpPr/>
          <p:nvPr/>
        </p:nvCxnSpPr>
        <p:spPr>
          <a:xfrm rot="-8384" flipH="false" flipV="false">
            <a:off x="762008" y="3295650"/>
            <a:ext cx="520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762000" y="3556000"/>
            <a:ext cx="5207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60000"/>
                  </a:srgbClr>
                </a:solidFill>
                <a:latin typeface="Poppins"/>
                <a:ea typeface="Poppins"/>
                <a:cs typeface="Poppins"/>
                <a:sym typeface="Poppins"/>
              </a:rPr>
              <a:t>A rapidly growing market focused on proactive health and wellness solutions. It shifts from reactive treatment to continuous monitoring, personalized care, and data-driven prevention.</a:t>
            </a:r>
            <a:endParaRPr lang="en-US" sz="1100"/>
          </a:p>
        </p:txBody>
      </p:sp>
      <p:sp>
        <p:nvSpPr>
          <p:cNvPr name="AutoShape 9" id="9"/>
          <p:cNvSpPr/>
          <p:nvPr/>
        </p:nvSpPr>
        <p:spPr>
          <a:xfrm rot="0" flipH="false" flipV="false">
            <a:off x="762000" y="5016500"/>
            <a:ext cx="520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8BDF8"/>
                </a:solidFill>
                <a:latin typeface="Poppins"/>
                <a:ea typeface="Poppins"/>
                <a:cs typeface="Poppins"/>
                <a:sym typeface="Poppins"/>
              </a:rPr>
              <a:t>$1.1 Trillion</a:t>
            </a:r>
            <a:r>
              <a:rPr lang="en-US" b="false" i="false" strike="noStrike" u="none" sz="1400">
                <a:solidFill>
                  <a:srgbClr val="FFFFFF">
                    <a:alpha val="40000"/>
                  </a:srgbClr>
                </a:solidFill>
                <a:latin typeface="Poppins"/>
                <a:ea typeface="Poppins"/>
                <a:cs typeface="Poppins"/>
                <a:sym typeface="Poppins"/>
              </a:rPr>
              <a:t>Global market forecast by 2030</a:t>
            </a:r>
            <a:endParaRPr lang="en-US" sz="1100"/>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23000" y="2413000"/>
            <a:ext cx="609600" cy="609600"/>
          </a:xfrm>
          <a:prstGeom prst="rect">
            <a:avLst/>
          </a:prstGeom>
        </p:spPr>
      </p:pic>
      <p:sp>
        <p:nvSpPr>
          <p:cNvPr name="AutoShape 11" id="11"/>
          <p:cNvSpPr/>
          <p:nvPr/>
        </p:nvSpPr>
        <p:spPr>
          <a:xfrm rot="0" flipH="false" flipV="false">
            <a:off x="6985000" y="24638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Poppins"/>
                <a:ea typeface="Poppins"/>
                <a:cs typeface="Poppins"/>
                <a:sym typeface="Poppins"/>
              </a:rPr>
              <a:t>AI Lifestyle Technology</a:t>
            </a:r>
            <a:endParaRPr lang="en-US" sz="1100"/>
          </a:p>
        </p:txBody>
      </p:sp>
      <p:cxnSp>
        <p:nvCxnSpPr>
          <p:cNvPr name="Connector 12" id="12"/>
          <p:cNvCxnSpPr/>
          <p:nvPr/>
        </p:nvCxnSpPr>
        <p:spPr>
          <a:xfrm rot="-8384" flipH="false" flipV="false">
            <a:off x="6223008" y="3295650"/>
            <a:ext cx="520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3" id="13"/>
          <p:cNvSpPr/>
          <p:nvPr/>
        </p:nvSpPr>
        <p:spPr>
          <a:xfrm rot="0" flipH="false" flipV="false">
            <a:off x="6223000" y="3556000"/>
            <a:ext cx="5207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60000"/>
                  </a:srgbClr>
                </a:solidFill>
                <a:latin typeface="Poppins"/>
                <a:ea typeface="Poppins"/>
                <a:cs typeface="Poppins"/>
                <a:sym typeface="Poppins"/>
              </a:rPr>
              <a:t>Integrating artificial intelligence into daily routines to create hyper-personalized, efficient, and intuitive living experiences across smart homes, wearables, and digital assistants.</a:t>
            </a:r>
            <a:endParaRPr lang="en-US" sz="1100"/>
          </a:p>
        </p:txBody>
      </p:sp>
      <p:sp>
        <p:nvSpPr>
          <p:cNvPr name="AutoShape 14" id="14"/>
          <p:cNvSpPr/>
          <p:nvPr/>
        </p:nvSpPr>
        <p:spPr>
          <a:xfrm rot="0" flipH="false" flipV="false">
            <a:off x="6223000" y="5016500"/>
            <a:ext cx="520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A78BFA"/>
                </a:solidFill>
                <a:latin typeface="Poppins"/>
                <a:ea typeface="Poppins"/>
                <a:cs typeface="Poppins"/>
                <a:sym typeface="Poppins"/>
              </a:rPr>
              <a:t>+25% CAGR</a:t>
            </a:r>
            <a:r>
              <a:rPr lang="en-US" b="false" i="false" strike="noStrike" u="none" sz="1400">
                <a:solidFill>
                  <a:srgbClr val="FFFFFF">
                    <a:alpha val="40000"/>
                  </a:srgbClr>
                </a:solidFill>
                <a:latin typeface="Poppins"/>
                <a:ea typeface="Poppins"/>
                <a:cs typeface="Poppins"/>
                <a:sym typeface="Poppins"/>
              </a:rPr>
              <a:t>Annual growth in consumer AI adoption</a:t>
            </a:r>
            <a:endParaRPr lang="en-US" sz="1100"/>
          </a:p>
        </p:txBody>
      </p:sp>
      <p:sp>
        <p:nvSpPr>
          <p:cNvPr name="AutoShape 15" id="15"/>
          <p:cNvSpPr/>
          <p:nvPr/>
        </p:nvSpPr>
        <p:spPr>
          <a:xfrm rot="0" flipH="false" flipV="false">
            <a:off x="762000" y="60325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25098"/>
                  </a:srgbClr>
                </a:solidFill>
                <a:latin typeface="Poppins"/>
                <a:ea typeface="Poppins"/>
                <a:cs typeface="Poppins"/>
                <a:sym typeface="Poppins"/>
              </a:rPr>
              <a:t>Connecting innovation with human-centric design to redefine the future of living.</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556000" y="1270000"/>
            <a:ext cx="5080000" cy="508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Partnership Model</a:t>
            </a:r>
            <a:endParaRPr lang="en-US" sz="1100"/>
          </a:p>
        </p:txBody>
      </p:sp>
      <p:sp>
        <p:nvSpPr>
          <p:cNvPr name="AutoShape 4" id="4"/>
          <p:cNvSpPr/>
          <p:nvPr/>
        </p:nvSpPr>
        <p:spPr>
          <a:xfrm rot="0" flipH="false" flipV="false">
            <a:off x="5334000" y="2667000"/>
            <a:ext cx="1524000" cy="1524000"/>
          </a:xfrm>
          <a:prstGeom prst="ellipse">
            <a:avLst/>
          </a:prstGeom>
          <a:solidFill>
            <a:srgbClr val="FFFFFF">
              <a:alpha val="8000"/>
            </a:srgbClr>
          </a:solidFill>
          <a:ln w="25400" cmpd="sng" cap="flat">
            <a:solidFill>
              <a:srgbClr val="FFFFFF">
                <a:alpha val="8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334000" y="3111500"/>
            <a:ext cx="1524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FFFFFF"/>
                </a:solidFill>
                <a:latin typeface="Poppins"/>
                <a:ea typeface="Poppins"/>
                <a:cs typeface="Poppins"/>
                <a:sym typeface="Poppins"/>
              </a:rPr>
              <a:t>Yiang</a:t>
            </a:r>
            <a:endParaRPr lang="en-US" sz="1100"/>
          </a:p>
        </p:txBody>
      </p:sp>
      <p:sp>
        <p:nvSpPr>
          <p:cNvPr name="AutoShape 6" id="6"/>
          <p:cNvSpPr/>
          <p:nvPr/>
        </p:nvSpPr>
        <p:spPr>
          <a:xfrm rot="0" flipH="false" flipV="false">
            <a:off x="2032000" y="2667000"/>
            <a:ext cx="1270000" cy="1270000"/>
          </a:xfrm>
          <a:prstGeom prst="ellipse">
            <a:avLst/>
          </a:prstGeom>
          <a:solidFill>
            <a:srgbClr val="FFFFFF">
              <a:alpha val="5000"/>
            </a:srgbClr>
          </a:solidFill>
          <a:ln w="12700" cmpd="sng" cap="flat">
            <a:solidFill>
              <a:srgbClr val="FFFFFF">
                <a:alpha val="4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70000" y="4191000"/>
            <a:ext cx="2794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Technology Partners</a:t>
            </a:r>
            <a:r>
              <a:rPr lang="en-US" b="false" i="false" strike="noStrike" u="none" sz="1600">
                <a:solidFill>
                  <a:srgbClr val="1F2329"/>
                </a:solidFill>
                <a:latin typeface="Poppins"/>
                <a:ea typeface="Poppins"/>
                <a:cs typeface="Poppins"/>
                <a:sym typeface="Poppins"/>
              </a:rPr>
              <a:t/>
            </a:r>
            <a:endParaRPr lang="en-US" sz="1100"/>
          </a:p>
          <a:p>
            <a:pPr algn="ctr" marL="0" indent="0">
              <a:lnSpc>
                <a:spcPct val="108333"/>
              </a:lnSpc>
            </a:pPr>
            <a:r>
              <a:rPr lang="en-US" b="false" i="false" strike="noStrike" u="none" sz="1300">
                <a:solidFill>
                  <a:srgbClr val="FFFFFF">
                    <a:alpha val="50196"/>
                  </a:srgbClr>
                </a:solidFill>
                <a:latin typeface="Poppins"/>
                <a:ea typeface="Poppins"/>
                <a:cs typeface="Poppins"/>
                <a:sym typeface="Poppins"/>
              </a:rPr>
              <a:t>Pioneering R&amp;D and</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technical infrastructure</a:t>
            </a:r>
          </a:p>
        </p:txBody>
      </p:sp>
      <p:sp>
        <p:nvSpPr>
          <p:cNvPr name="AutoShape 8" id="8"/>
          <p:cNvSpPr/>
          <p:nvPr/>
        </p:nvSpPr>
        <p:spPr>
          <a:xfrm rot="0" flipH="false" flipV="false">
            <a:off x="8636000" y="2667000"/>
            <a:ext cx="1270000" cy="1270000"/>
          </a:xfrm>
          <a:prstGeom prst="ellipse">
            <a:avLst/>
          </a:prstGeom>
          <a:solidFill>
            <a:srgbClr val="FFFFFF">
              <a:alpha val="5000"/>
            </a:srgbClr>
          </a:solidFill>
          <a:ln w="12700" cmpd="sng" cap="flat">
            <a:solidFill>
              <a:srgbClr val="FFFFFF">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874000" y="4191000"/>
            <a:ext cx="2794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Manufacturing Partners</a:t>
            </a:r>
            <a:r>
              <a:rPr lang="en-US" b="false" i="false" strike="noStrike" u="none" sz="1600">
                <a:solidFill>
                  <a:srgbClr val="1F2329"/>
                </a:solidFill>
                <a:latin typeface="Poppins"/>
                <a:ea typeface="Poppins"/>
                <a:cs typeface="Poppins"/>
                <a:sym typeface="Poppins"/>
              </a:rPr>
              <a:t/>
            </a:r>
            <a:endParaRPr lang="en-US" sz="1100"/>
          </a:p>
          <a:p>
            <a:pPr algn="ctr" marL="0" indent="0">
              <a:lnSpc>
                <a:spcPct val="108333"/>
              </a:lnSpc>
            </a:pPr>
            <a:r>
              <a:rPr lang="en-US" b="false" i="false" strike="noStrike" u="none" sz="1300">
                <a:solidFill>
                  <a:srgbClr val="FFFFFF">
                    <a:alpha val="50196"/>
                  </a:srgbClr>
                </a:solidFill>
                <a:latin typeface="Poppins"/>
                <a:ea typeface="Poppins"/>
                <a:cs typeface="Poppins"/>
                <a:sym typeface="Poppins"/>
              </a:rPr>
              <a:t>Global production capacity</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ensuring reliability &amp; scale</a:t>
            </a:r>
          </a:p>
        </p:txBody>
      </p:sp>
      <p:sp>
        <p:nvSpPr>
          <p:cNvPr name="AutoShape 10" id="10"/>
          <p:cNvSpPr/>
          <p:nvPr/>
        </p:nvSpPr>
        <p:spPr>
          <a:xfrm rot="0" flipH="false" flipV="false">
            <a:off x="5334000" y="4699000"/>
            <a:ext cx="1270000" cy="1270000"/>
          </a:xfrm>
          <a:prstGeom prst="ellipse">
            <a:avLst/>
          </a:prstGeom>
          <a:solidFill>
            <a:srgbClr val="FFFFFF">
              <a:alpha val="5000"/>
            </a:srgbClr>
          </a:solidFill>
          <a:ln w="12700" cmpd="sng" cap="flat">
            <a:solidFill>
              <a:srgbClr val="FFFFFF">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191000" y="5994400"/>
            <a:ext cx="381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Investors</a:t>
            </a:r>
            <a:r>
              <a:rPr lang="en-US" b="false" i="false" strike="noStrike" u="none" sz="1300">
                <a:solidFill>
                  <a:srgbClr val="FFFFFF">
                    <a:alpha val="50196"/>
                  </a:srgbClr>
                </a:solidFill>
                <a:latin typeface="Poppins"/>
                <a:ea typeface="Poppins"/>
                <a:cs typeface="Poppins"/>
                <a:sym typeface="Poppins"/>
              </a:rPr>
              <a:t>— Fueling growth &amp; visionary expansion</a:t>
            </a:r>
            <a:endParaRPr lang="en-US" sz="1100"/>
          </a:p>
        </p:txBody>
      </p:sp>
      <p:cxnSp>
        <p:nvCxnSpPr>
          <p:cNvPr name="Connector 12" id="12"/>
          <p:cNvCxnSpPr/>
          <p:nvPr/>
        </p:nvCxnSpPr>
        <p:spPr>
          <a:xfrm rot="-21485" flipH="false" flipV="false">
            <a:off x="3302020" y="3295650"/>
            <a:ext cx="2032000" cy="12700"/>
          </a:xfrm>
          <a:prstGeom prst="straightConnector1">
            <a:avLst/>
          </a:prstGeom>
          <a:solidFill>
            <a:srgbClr val="DEE0E3">
              <a:alpha val="100000"/>
            </a:srgbClr>
          </a:solidFill>
          <a:ln w="12700" cmpd="sng" cap="flat">
            <a:solidFill>
              <a:srgbClr val="FFFFFF">
                <a:alpha val="25000"/>
              </a:srgbClr>
            </a:solidFill>
            <a:prstDash val="solid"/>
            <a:round/>
            <a:headEnd type="none" w="med" len="med"/>
            <a:tailEnd type="none" w="med" len="med"/>
          </a:ln>
        </p:spPr>
      </p:cxnSp>
      <p:cxnSp>
        <p:nvCxnSpPr>
          <p:cNvPr name="Connector 13" id="13"/>
          <p:cNvCxnSpPr/>
          <p:nvPr/>
        </p:nvCxnSpPr>
        <p:spPr>
          <a:xfrm rot="10775445" flipH="false" flipV="false">
            <a:off x="6857977" y="3295650"/>
            <a:ext cx="1778000" cy="12700"/>
          </a:xfrm>
          <a:prstGeom prst="straightConnector1">
            <a:avLst/>
          </a:prstGeom>
          <a:solidFill>
            <a:srgbClr val="DEE0E3">
              <a:alpha val="100000"/>
            </a:srgbClr>
          </a:solidFill>
          <a:ln w="12700" cmpd="sng" cap="flat">
            <a:solidFill>
              <a:srgbClr val="FFFFFF">
                <a:alpha val="25000"/>
              </a:srgbClr>
            </a:solidFill>
            <a:prstDash val="solid"/>
            <a:round/>
            <a:headEnd type="none" w="med" len="med"/>
            <a:tailEnd type="none" w="med" len="med"/>
          </a:ln>
        </p:spPr>
      </p:cxnSp>
      <p:cxnSp>
        <p:nvCxnSpPr>
          <p:cNvPr name="Connector 14" id="14"/>
          <p:cNvCxnSpPr/>
          <p:nvPr/>
        </p:nvCxnSpPr>
        <p:spPr>
          <a:xfrm rot="-5485925" flipH="false" flipV="false">
            <a:off x="5715000" y="4438571"/>
            <a:ext cx="508000" cy="12700"/>
          </a:xfrm>
          <a:prstGeom prst="straightConnector1">
            <a:avLst/>
          </a:prstGeom>
          <a:solidFill>
            <a:srgbClr val="DEE0E3">
              <a:alpha val="100000"/>
            </a:srgbClr>
          </a:solidFill>
          <a:ln w="12700" cmpd="sng" cap="flat">
            <a:solidFill>
              <a:srgbClr val="FFFFFF">
                <a:alpha val="25000"/>
              </a:srgbClr>
            </a:solidFill>
            <a:prstDash val="solid"/>
            <a:round/>
            <a:headEnd type="none" w="med" len="med"/>
            <a:tailEnd type="none" w="med" len="med"/>
          </a:ln>
        </p:spPr>
      </p:cxn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Poppins"/>
                <a:ea typeface="Poppins"/>
                <a:cs typeface="Poppins"/>
                <a:sym typeface="Poppins"/>
              </a:rPr>
              <a:t>Future Roadmap</a:t>
            </a:r>
            <a:endParaRPr lang="en-US" sz="1100"/>
          </a:p>
        </p:txBody>
      </p:sp>
      <p:sp>
        <p:nvSpPr>
          <p:cNvPr name="AutoShape 3" id="3"/>
          <p:cNvSpPr/>
          <p:nvPr/>
        </p:nvSpPr>
        <p:spPr>
          <a:xfrm rot="0" flipH="false" flipV="false">
            <a:off x="762000" y="2413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5A5A5A"/>
                </a:solidFill>
                <a:latin typeface="Poppins"/>
                <a:ea typeface="Poppins"/>
                <a:cs typeface="Poppins"/>
                <a:sym typeface="Poppins"/>
              </a:rPr>
              <a:t>01</a:t>
            </a:r>
            <a:endParaRPr lang="en-US" sz="1100"/>
          </a:p>
        </p:txBody>
      </p:sp>
      <p:sp>
        <p:nvSpPr>
          <p:cNvPr name="AutoShape 4" id="4"/>
          <p:cNvSpPr/>
          <p:nvPr/>
        </p:nvSpPr>
        <p:spPr>
          <a:xfrm rot="0" flipH="false" flipV="false">
            <a:off x="762000" y="3683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Poppins"/>
                <a:ea typeface="Poppins"/>
                <a:cs typeface="Poppins"/>
                <a:sym typeface="Poppins"/>
              </a:rPr>
              <a:t>Concept</a:t>
            </a:r>
            <a:endParaRPr lang="en-US" sz="1100"/>
          </a:p>
        </p:txBody>
      </p:sp>
      <p:cxnSp>
        <p:nvCxnSpPr>
          <p:cNvPr name="Connector 5" id="5"/>
          <p:cNvCxnSpPr/>
          <p:nvPr/>
        </p:nvCxnSpPr>
        <p:spPr>
          <a:xfrm rot="-57290" flipH="false" flipV="false">
            <a:off x="762053" y="4438650"/>
            <a:ext cx="762000" cy="12700"/>
          </a:xfrm>
          <a:prstGeom prst="straightConnector1">
            <a:avLst/>
          </a:prstGeom>
          <a:solidFill>
            <a:srgbClr val="DEE0E3">
              <a:alpha val="100000"/>
            </a:srgbClr>
          </a:solidFill>
          <a:ln w="25400" cmpd="sng" cap="flat">
            <a:solidFill>
              <a:srgbClr val="FFFFFF">
                <a:alpha val="25000"/>
              </a:srgbClr>
            </a:solidFill>
            <a:prstDash val="solid"/>
            <a:round/>
            <a:headEnd type="none" w="lg" len="lg"/>
            <a:tailEnd type="none" w="lg" len="lg"/>
          </a:ln>
        </p:spPr>
      </p:cxnSp>
      <p:sp>
        <p:nvSpPr>
          <p:cNvPr name="AutoShape 6" id="6"/>
          <p:cNvSpPr/>
          <p:nvPr/>
        </p:nvSpPr>
        <p:spPr>
          <a:xfrm rot="0" flipH="false" flipV="false">
            <a:off x="762000" y="47625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A0A0A0"/>
                </a:solidFill>
                <a:latin typeface="Poppins"/>
                <a:ea typeface="Poppins"/>
                <a:cs typeface="Poppins"/>
                <a:sym typeface="Poppins"/>
              </a:rPr>
              <a:t>Idea Generation &amp; deep market research to validate the core vision and identify user needs.</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073400" y="3784600"/>
            <a:ext cx="254000" cy="254000"/>
          </a:xfrm>
          <a:prstGeom prst="rect">
            <a:avLst/>
          </a:prstGeom>
        </p:spPr>
      </p:pic>
      <p:sp>
        <p:nvSpPr>
          <p:cNvPr name="AutoShape 8" id="8"/>
          <p:cNvSpPr/>
          <p:nvPr/>
        </p:nvSpPr>
        <p:spPr>
          <a:xfrm rot="0" flipH="false" flipV="false">
            <a:off x="3492500" y="2413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5A5A5A"/>
                </a:solidFill>
                <a:latin typeface="Poppins"/>
                <a:ea typeface="Poppins"/>
                <a:cs typeface="Poppins"/>
                <a:sym typeface="Poppins"/>
              </a:rPr>
              <a:t>02</a:t>
            </a:r>
            <a:endParaRPr lang="en-US" sz="1100"/>
          </a:p>
        </p:txBody>
      </p:sp>
      <p:sp>
        <p:nvSpPr>
          <p:cNvPr name="AutoShape 9" id="9"/>
          <p:cNvSpPr/>
          <p:nvPr/>
        </p:nvSpPr>
        <p:spPr>
          <a:xfrm rot="0" flipH="false" flipV="false">
            <a:off x="3492500" y="3683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Poppins"/>
                <a:ea typeface="Poppins"/>
                <a:cs typeface="Poppins"/>
                <a:sym typeface="Poppins"/>
              </a:rPr>
              <a:t>Prototype</a:t>
            </a:r>
            <a:endParaRPr lang="en-US" sz="1100"/>
          </a:p>
        </p:txBody>
      </p:sp>
      <p:cxnSp>
        <p:nvCxnSpPr>
          <p:cNvPr name="Connector 10" id="10"/>
          <p:cNvCxnSpPr/>
          <p:nvPr/>
        </p:nvCxnSpPr>
        <p:spPr>
          <a:xfrm rot="-57290" flipH="false" flipV="false">
            <a:off x="3492553" y="4438650"/>
            <a:ext cx="762000" cy="12700"/>
          </a:xfrm>
          <a:prstGeom prst="straightConnector1">
            <a:avLst/>
          </a:prstGeom>
          <a:solidFill>
            <a:srgbClr val="DEE0E3">
              <a:alpha val="100000"/>
            </a:srgbClr>
          </a:solidFill>
          <a:ln w="25400" cmpd="sng" cap="flat">
            <a:solidFill>
              <a:srgbClr val="FFFFFF">
                <a:alpha val="25000"/>
              </a:srgbClr>
            </a:solidFill>
            <a:prstDash val="solid"/>
            <a:round/>
            <a:headEnd type="none" w="lg" len="lg"/>
            <a:tailEnd type="none" w="lg" len="lg"/>
          </a:ln>
        </p:spPr>
      </p:cxnSp>
      <p:sp>
        <p:nvSpPr>
          <p:cNvPr name="AutoShape 11" id="11"/>
          <p:cNvSpPr/>
          <p:nvPr/>
        </p:nvSpPr>
        <p:spPr>
          <a:xfrm rot="0" flipH="false" flipV="false">
            <a:off x="3492500" y="47625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A0A0A0"/>
                </a:solidFill>
                <a:latin typeface="Poppins"/>
                <a:ea typeface="Poppins"/>
                <a:cs typeface="Poppins"/>
                <a:sym typeface="Poppins"/>
              </a:rPr>
              <a:t>Iterative design &amp; development to build a functional MVP for testing and refinement.</a:t>
            </a:r>
            <a:endParaRPr lang="en-US" sz="1100"/>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803900" y="3784600"/>
            <a:ext cx="254000" cy="254000"/>
          </a:xfrm>
          <a:prstGeom prst="rect">
            <a:avLst/>
          </a:prstGeom>
        </p:spPr>
      </p:pic>
      <p:sp>
        <p:nvSpPr>
          <p:cNvPr name="AutoShape 13" id="13"/>
          <p:cNvSpPr/>
          <p:nvPr/>
        </p:nvSpPr>
        <p:spPr>
          <a:xfrm rot="0" flipH="false" flipV="false">
            <a:off x="6223000" y="2413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5A5A5A"/>
                </a:solidFill>
                <a:latin typeface="Poppins"/>
                <a:ea typeface="Poppins"/>
                <a:cs typeface="Poppins"/>
                <a:sym typeface="Poppins"/>
              </a:rPr>
              <a:t>03</a:t>
            </a:r>
            <a:endParaRPr lang="en-US" sz="1100"/>
          </a:p>
        </p:txBody>
      </p:sp>
      <p:sp>
        <p:nvSpPr>
          <p:cNvPr name="AutoShape 14" id="14"/>
          <p:cNvSpPr/>
          <p:nvPr/>
        </p:nvSpPr>
        <p:spPr>
          <a:xfrm rot="0" flipH="false" flipV="false">
            <a:off x="6223000" y="3683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Poppins"/>
                <a:ea typeface="Poppins"/>
                <a:cs typeface="Poppins"/>
                <a:sym typeface="Poppins"/>
              </a:rPr>
              <a:t>Partnership</a:t>
            </a:r>
            <a:endParaRPr lang="en-US" sz="1100"/>
          </a:p>
        </p:txBody>
      </p:sp>
      <p:cxnSp>
        <p:nvCxnSpPr>
          <p:cNvPr name="Connector 15" id="15"/>
          <p:cNvCxnSpPr/>
          <p:nvPr/>
        </p:nvCxnSpPr>
        <p:spPr>
          <a:xfrm rot="-57290" flipH="false" flipV="false">
            <a:off x="6223053" y="4438650"/>
            <a:ext cx="762000" cy="12700"/>
          </a:xfrm>
          <a:prstGeom prst="straightConnector1">
            <a:avLst/>
          </a:prstGeom>
          <a:solidFill>
            <a:srgbClr val="DEE0E3">
              <a:alpha val="100000"/>
            </a:srgbClr>
          </a:solidFill>
          <a:ln w="25400" cmpd="sng" cap="flat">
            <a:solidFill>
              <a:srgbClr val="FFFFFF">
                <a:alpha val="25000"/>
              </a:srgbClr>
            </a:solidFill>
            <a:prstDash val="solid"/>
            <a:round/>
            <a:headEnd type="none" w="lg" len="lg"/>
            <a:tailEnd type="none" w="lg" len="lg"/>
          </a:ln>
        </p:spPr>
      </p:cxnSp>
      <p:sp>
        <p:nvSpPr>
          <p:cNvPr name="AutoShape 16" id="16"/>
          <p:cNvSpPr/>
          <p:nvPr/>
        </p:nvSpPr>
        <p:spPr>
          <a:xfrm rot="0" flipH="false" flipV="false">
            <a:off x="6223000" y="47625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A0A0A0"/>
                </a:solidFill>
                <a:latin typeface="Poppins"/>
                <a:ea typeface="Poppins"/>
                <a:cs typeface="Poppins"/>
                <a:sym typeface="Poppins"/>
              </a:rPr>
              <a:t>Securing strategic collaborations &amp; industry alliances to amplify market reach and resources.</a:t>
            </a:r>
            <a:endParaRPr lang="en-US" sz="1100"/>
          </a:p>
        </p:txBody>
      </p:sp>
      <p:pic>
        <p:nvPicPr>
          <p:cNvPr name="Picture 17" id="1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534400" y="3784600"/>
            <a:ext cx="254000" cy="254000"/>
          </a:xfrm>
          <a:prstGeom prst="rect">
            <a:avLst/>
          </a:prstGeom>
        </p:spPr>
      </p:pic>
      <p:sp>
        <p:nvSpPr>
          <p:cNvPr name="AutoShape 18" id="18"/>
          <p:cNvSpPr/>
          <p:nvPr/>
        </p:nvSpPr>
        <p:spPr>
          <a:xfrm rot="0" flipH="false" flipV="false">
            <a:off x="8953500" y="2413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5A5A5A"/>
                </a:solidFill>
                <a:latin typeface="Poppins"/>
                <a:ea typeface="Poppins"/>
                <a:cs typeface="Poppins"/>
                <a:sym typeface="Poppins"/>
              </a:rPr>
              <a:t>04</a:t>
            </a:r>
            <a:endParaRPr lang="en-US" sz="1100"/>
          </a:p>
        </p:txBody>
      </p:sp>
      <p:sp>
        <p:nvSpPr>
          <p:cNvPr name="AutoShape 19" id="19"/>
          <p:cNvSpPr/>
          <p:nvPr/>
        </p:nvSpPr>
        <p:spPr>
          <a:xfrm rot="0" flipH="false" flipV="false">
            <a:off x="8953500" y="3683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Poppins"/>
                <a:ea typeface="Poppins"/>
                <a:cs typeface="Poppins"/>
                <a:sym typeface="Poppins"/>
              </a:rPr>
              <a:t>Commercialization</a:t>
            </a:r>
            <a:endParaRPr lang="en-US" sz="1100"/>
          </a:p>
        </p:txBody>
      </p:sp>
      <p:cxnSp>
        <p:nvCxnSpPr>
          <p:cNvPr name="Connector 20" id="20"/>
          <p:cNvCxnSpPr/>
          <p:nvPr/>
        </p:nvCxnSpPr>
        <p:spPr>
          <a:xfrm rot="-57290" flipH="false" flipV="false">
            <a:off x="8953553" y="4438650"/>
            <a:ext cx="762000" cy="12700"/>
          </a:xfrm>
          <a:prstGeom prst="straightConnector1">
            <a:avLst/>
          </a:prstGeom>
          <a:solidFill>
            <a:srgbClr val="DEE0E3">
              <a:alpha val="100000"/>
            </a:srgbClr>
          </a:solidFill>
          <a:ln w="25400" cmpd="sng" cap="flat">
            <a:solidFill>
              <a:srgbClr val="FFFFFF">
                <a:alpha val="25000"/>
              </a:srgbClr>
            </a:solidFill>
            <a:prstDash val="solid"/>
            <a:round/>
            <a:headEnd type="none" w="lg" len="lg"/>
            <a:tailEnd type="none" w="lg" len="lg"/>
          </a:ln>
        </p:spPr>
      </p:cxnSp>
      <p:sp>
        <p:nvSpPr>
          <p:cNvPr name="AutoShape 21" id="21"/>
          <p:cNvSpPr/>
          <p:nvPr/>
        </p:nvSpPr>
        <p:spPr>
          <a:xfrm rot="0" flipH="false" flipV="false">
            <a:off x="8953500" y="47625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A0A0A0"/>
                </a:solidFill>
                <a:latin typeface="Poppins"/>
                <a:ea typeface="Poppins"/>
                <a:cs typeface="Poppins"/>
                <a:sym typeface="Poppins"/>
              </a:rPr>
              <a:t>Full market launch, scaling operations, and expanding distribution to capture market share.</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2032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Poppins"/>
                <a:ea typeface="Poppins"/>
                <a:cs typeface="Poppins"/>
                <a:sym typeface="Poppins"/>
              </a:rPr>
              <a:t>Yiang</a:t>
            </a:r>
            <a:endParaRPr lang="en-US" sz="1100"/>
          </a:p>
        </p:txBody>
      </p:sp>
      <p:sp>
        <p:nvSpPr>
          <p:cNvPr name="AutoShape 3" id="3"/>
          <p:cNvSpPr/>
          <p:nvPr/>
        </p:nvSpPr>
        <p:spPr>
          <a:xfrm rot="0" flipH="false" flipV="false">
            <a:off x="0" y="3937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70196"/>
                  </a:srgbClr>
                </a:solidFill>
                <a:latin typeface="Poppins"/>
                <a:ea typeface="Poppins"/>
                <a:cs typeface="Poppins"/>
                <a:sym typeface="Poppins"/>
              </a:rPr>
              <a:t>xhsj2005@gmail.com</a:t>
            </a:r>
            <a:endParaRPr lang="en-US" sz="1100"/>
          </a:p>
        </p:txBody>
      </p:sp>
      <p:sp>
        <p:nvSpPr>
          <p:cNvPr name="AutoShape 4" id="4"/>
          <p:cNvSpPr/>
          <p:nvPr/>
        </p:nvSpPr>
        <p:spPr>
          <a:xfrm rot="0" flipH="false" flipV="false">
            <a:off x="0" y="4826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70196"/>
                  </a:srgbClr>
                </a:solidFill>
                <a:latin typeface="Poppins"/>
                <a:ea typeface="Poppins"/>
                <a:cs typeface="Poppins"/>
                <a:sym typeface="Poppins"/>
              </a:rPr>
              <a:t>18603567665</a:t>
            </a:r>
            <a:endParaRPr lang="en-US" sz="1100"/>
          </a:p>
        </p:txBody>
      </p:sp>
      <p:pic>
        <p:nvPicPr>
          <p:cNvPr name="Picture 5" id="5"/>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{"Label":"1","ContentProducer":"001191110102MACQD9K64010000","ProduceID":"7671470769831005112","ReservedCode1":"","ContentPropagator":"","PropagateID":"","ReservedCode2":""}</vt:lpwstr>
  </property>
</Properties>
</file>